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09728"/>
            <a:ext cx="79827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1A5276"/>
                </a:solidFill>
                <a:latin typeface="Calibri"/>
              </a:rPr>
              <a:t>SMART INDIA HACKATHON 2025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73152"/>
            <a:ext cx="2194560" cy="1081278"/>
          </a:xfrm>
          <a:prstGeom prst="rect">
            <a:avLst/>
          </a:prstGeom>
        </p:spPr>
      </p:pic>
      <p:pic>
        <p:nvPicPr>
          <p:cNvPr id="5" name="Picture 4" descr="metshield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371600" cy="10436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1051560"/>
            <a:ext cx="6338255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endParaRPr lang="en-US" sz="2100" dirty="0">
              <a:solidFill>
                <a:srgbClr val="1A1A2E"/>
              </a:solidFill>
              <a:latin typeface="Calibri"/>
            </a:endParaRPr>
          </a:p>
          <a:p>
            <a:pPr algn="l">
              <a:spcAft>
                <a:spcPts val="1400"/>
              </a:spcAft>
            </a:pPr>
            <a:r>
              <a:rPr sz="2100" dirty="0">
                <a:solidFill>
                  <a:srgbClr val="1A1A2E"/>
                </a:solidFill>
                <a:latin typeface="Calibri"/>
              </a:rPr>
              <a:t>•  </a:t>
            </a:r>
            <a:r>
              <a:rPr sz="2100" b="1" dirty="0">
                <a:solidFill>
                  <a:srgbClr val="1A1A2E"/>
                </a:solidFill>
                <a:latin typeface="Calibri"/>
              </a:rPr>
              <a:t>Problem Statement ID</a:t>
            </a:r>
            <a:r>
              <a:rPr sz="2100" b="0" dirty="0">
                <a:solidFill>
                  <a:srgbClr val="1A1A2E"/>
                </a:solidFill>
                <a:latin typeface="Calibri"/>
              </a:rPr>
              <a:t> – SIH26073</a:t>
            </a:r>
          </a:p>
          <a:p>
            <a:pPr algn="l">
              <a:spcAft>
                <a:spcPts val="1400"/>
              </a:spcAft>
            </a:pPr>
            <a:r>
              <a:rPr sz="2100" dirty="0">
                <a:solidFill>
                  <a:srgbClr val="1A1A2E"/>
                </a:solidFill>
                <a:latin typeface="Calibri"/>
              </a:rPr>
              <a:t>•  </a:t>
            </a:r>
            <a:r>
              <a:rPr sz="2100" b="1" dirty="0">
                <a:solidFill>
                  <a:srgbClr val="1A1A2E"/>
                </a:solidFill>
                <a:latin typeface="Calibri"/>
              </a:rPr>
              <a:t>Problem Statement Title</a:t>
            </a:r>
            <a:r>
              <a:rPr sz="2100" b="0" dirty="0">
                <a:solidFill>
                  <a:srgbClr val="1A1A2E"/>
                </a:solidFill>
                <a:latin typeface="Calibri"/>
              </a:rPr>
              <a:t> – Automated Weather Station Quality
Management System (AWS-QMS)</a:t>
            </a:r>
          </a:p>
          <a:p>
            <a:pPr algn="l">
              <a:spcAft>
                <a:spcPts val="1400"/>
              </a:spcAft>
            </a:pPr>
            <a:r>
              <a:rPr sz="2100" dirty="0">
                <a:solidFill>
                  <a:srgbClr val="1A1A2E"/>
                </a:solidFill>
                <a:latin typeface="Calibri"/>
              </a:rPr>
              <a:t>•  </a:t>
            </a:r>
            <a:r>
              <a:rPr sz="2100" b="1" dirty="0">
                <a:solidFill>
                  <a:srgbClr val="1A1A2E"/>
                </a:solidFill>
                <a:latin typeface="Calibri"/>
              </a:rPr>
              <a:t>Theme</a:t>
            </a:r>
            <a:r>
              <a:rPr sz="2100" b="0" dirty="0">
                <a:solidFill>
                  <a:srgbClr val="1A1A2E"/>
                </a:solidFill>
                <a:latin typeface="Calibri"/>
              </a:rPr>
              <a:t> – Environment &amp; Disaster Management</a:t>
            </a:r>
          </a:p>
          <a:p>
            <a:pPr algn="l">
              <a:spcAft>
                <a:spcPts val="1400"/>
              </a:spcAft>
            </a:pPr>
            <a:r>
              <a:rPr sz="2100" dirty="0">
                <a:solidFill>
                  <a:srgbClr val="1A1A2E"/>
                </a:solidFill>
                <a:latin typeface="Calibri"/>
              </a:rPr>
              <a:t>•  </a:t>
            </a:r>
            <a:r>
              <a:rPr sz="2100" b="1" dirty="0">
                <a:solidFill>
                  <a:srgbClr val="1A1A2E"/>
                </a:solidFill>
                <a:latin typeface="Calibri"/>
              </a:rPr>
              <a:t>PS Category</a:t>
            </a:r>
            <a:r>
              <a:rPr sz="2100" b="0" dirty="0">
                <a:solidFill>
                  <a:srgbClr val="1A1A2E"/>
                </a:solidFill>
                <a:latin typeface="Calibri"/>
              </a:rPr>
              <a:t> – Software</a:t>
            </a:r>
          </a:p>
          <a:p>
            <a:pPr algn="l">
              <a:spcAft>
                <a:spcPts val="1400"/>
              </a:spcAft>
            </a:pPr>
            <a:r>
              <a:rPr sz="2100" dirty="0">
                <a:solidFill>
                  <a:srgbClr val="1A1A2E"/>
                </a:solidFill>
                <a:latin typeface="Calibri"/>
              </a:rPr>
              <a:t>•  </a:t>
            </a:r>
            <a:r>
              <a:rPr sz="2100" b="1" dirty="0">
                <a:solidFill>
                  <a:srgbClr val="1A1A2E"/>
                </a:solidFill>
                <a:latin typeface="Calibri"/>
              </a:rPr>
              <a:t>Team ID</a:t>
            </a:r>
            <a:r>
              <a:rPr sz="2100" b="0" dirty="0">
                <a:solidFill>
                  <a:srgbClr val="1A1A2E"/>
                </a:solidFill>
                <a:latin typeface="Calibri"/>
              </a:rPr>
              <a:t> – AEROTECH-2026</a:t>
            </a:r>
          </a:p>
          <a:p>
            <a:pPr algn="l">
              <a:spcAft>
                <a:spcPts val="1400"/>
              </a:spcAft>
            </a:pPr>
            <a:r>
              <a:rPr lang="en-IN" sz="2100" dirty="0">
                <a:solidFill>
                  <a:srgbClr val="1A1A2E"/>
                </a:solidFill>
                <a:latin typeface="Calibri"/>
              </a:rPr>
              <a:t>•  </a:t>
            </a:r>
            <a:r>
              <a:rPr lang="en-IN" sz="2100" b="1" dirty="0">
                <a:solidFill>
                  <a:srgbClr val="1A1A2E"/>
                </a:solidFill>
                <a:latin typeface="Calibri"/>
              </a:rPr>
              <a:t>Team Name</a:t>
            </a:r>
            <a:r>
              <a:rPr lang="en-IN" sz="2100" b="0" dirty="0">
                <a:solidFill>
                  <a:srgbClr val="1A1A2E"/>
                </a:solidFill>
                <a:latin typeface="Calibri"/>
              </a:rPr>
              <a:t> – Aerotech</a:t>
            </a:r>
          </a:p>
          <a:p>
            <a:pPr algn="l">
              <a:spcAft>
                <a:spcPts val="1400"/>
              </a:spcAft>
            </a:pPr>
            <a:r>
              <a:rPr lang="en-IN" sz="2100" b="1" dirty="0">
                <a:solidFill>
                  <a:srgbClr val="1A1A2E"/>
                </a:solidFill>
                <a:latin typeface="Calibri"/>
              </a:rPr>
              <a:t>PROJECT NAME</a:t>
            </a:r>
            <a:r>
              <a:rPr lang="en-IN" sz="2100" b="0" dirty="0">
                <a:solidFill>
                  <a:srgbClr val="1A1A2E"/>
                </a:solidFill>
                <a:latin typeface="Calibri"/>
              </a:rPr>
              <a:t> (Metshield AI)</a:t>
            </a:r>
          </a:p>
        </p:txBody>
      </p:sp>
      <p:pic>
        <p:nvPicPr>
          <p:cNvPr id="7" name="Picture 6" descr="sih_bulb_large.png"/>
          <p:cNvPicPr>
            <a:picLocks noChangeAspect="1"/>
          </p:cNvPicPr>
          <p:nvPr/>
        </p:nvPicPr>
        <p:blipFill>
          <a:blip r:embed="rId4"/>
          <a:srcRect l="9934"/>
          <a:stretch>
            <a:fillRect/>
          </a:stretch>
        </p:blipFill>
        <p:spPr>
          <a:xfrm>
            <a:off x="7089058" y="927342"/>
            <a:ext cx="4651908" cy="5394960"/>
          </a:xfrm>
          <a:prstGeom prst="foldedCorner">
            <a:avLst/>
          </a:prstGeom>
        </p:spPr>
      </p:pic>
      <p:pic>
        <p:nvPicPr>
          <p:cNvPr id="8" name="Picture 7" descr="metshield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"/>
            <a:ext cx="1371600" cy="1043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etshield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3152"/>
            <a:ext cx="1371600" cy="1043609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73152"/>
            <a:ext cx="2194560" cy="1081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73152"/>
            <a:ext cx="8531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Calibri"/>
              </a:rPr>
              <a:t>METSHIELD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59436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A1A2E"/>
                </a:solidFill>
                <a:latin typeface="Calibri"/>
              </a:rPr>
              <a:t>Intelligent AWS Telemetry Quality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1024128"/>
            <a:ext cx="5166360" cy="475488"/>
          </a:xfrm>
          <a:prstGeom prst="roundRect">
            <a:avLst>
              <a:gd name="adj" fmla="val 12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03327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Proposed Solution /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536192"/>
            <a:ext cx="5166360" cy="4160520"/>
          </a:xfrm>
          <a:prstGeom prst="rect">
            <a:avLst/>
          </a:prstGeom>
          <a:solidFill>
            <a:srgbClr val="F0F4F8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" y="16002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 </a:t>
            </a:r>
            <a:r>
              <a:rPr sz="1100" b="1">
                <a:solidFill>
                  <a:srgbClr val="1A1A2E"/>
                </a:solidFill>
                <a:latin typeface="Calibri"/>
              </a:rPr>
              <a:t>5-Tier WMO Anomaly Engine:</a:t>
            </a:r>
            <a:r>
              <a:rPr sz="1100">
                <a:solidFill>
                  <a:srgbClr val="1A1A2E"/>
                </a:solidFill>
                <a:latin typeface="Calibri"/>
              </a:rPr>
              <a:t> Validates telemetry in &lt;4.2ms, discriminating convective storms from broken sensors using thermodynamic physical rules, Isolation Forest &amp; LSTM Autoencoder ensemble.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 </a:t>
            </a:r>
            <a:r>
              <a:rPr sz="1100" b="1">
                <a:solidFill>
                  <a:srgbClr val="1A1A2E"/>
                </a:solidFill>
                <a:latin typeface="Calibri"/>
              </a:rPr>
              <a:t>Spatial Intelligence Matrix:</a:t>
            </a:r>
            <a:r>
              <a:rPr sz="1100">
                <a:solidFill>
                  <a:srgbClr val="1A1A2E"/>
                </a:solidFill>
                <a:latin typeface="Calibri"/>
              </a:rPr>
              <a:t> Real-time cross-validation against 1,350+ surrounding stations using Haversine geometry and Kriging interpolation to build mathematical regional consensus.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 </a:t>
            </a:r>
            <a:r>
              <a:rPr sz="1100" b="1">
                <a:solidFill>
                  <a:srgbClr val="1A1A2E"/>
                </a:solidFill>
                <a:latin typeface="Calibri"/>
              </a:rPr>
              <a:t>Zero-Gap NWP Data Assurance:</a:t>
            </a:r>
            <a:r>
              <a:rPr sz="1100">
                <a:solidFill>
                  <a:srgbClr val="1A1A2E"/>
                </a:solidFill>
                <a:latin typeface="Calibri"/>
              </a:rPr>
              <a:t> Quarantines corrupted packets and performs spatial imputation so no bad data ever enters national numerical weather prediction models.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 </a:t>
            </a:r>
            <a:r>
              <a:rPr sz="1100" b="1">
                <a:solidFill>
                  <a:srgbClr val="1A1A2E"/>
                </a:solidFill>
                <a:latin typeface="Calibri"/>
              </a:rPr>
              <a:t>CAP v1.2 Early Warnings:</a:t>
            </a:r>
            <a:r>
              <a:rPr sz="1100">
                <a:solidFill>
                  <a:srgbClr val="1A1A2E"/>
                </a:solidFill>
                <a:latin typeface="Calibri"/>
              </a:rPr>
              <a:t> Instantly generates ITU-T X.1303 Common Alerting Protocol payloads for genuine storm confirmations; prevents false alarms from sensor faults.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 </a:t>
            </a:r>
            <a:r>
              <a:rPr sz="1100" b="1">
                <a:solidFill>
                  <a:srgbClr val="1A1A2E"/>
                </a:solidFill>
                <a:latin typeface="Calibri"/>
              </a:rPr>
              <a:t>Predictive Field Maintenance:</a:t>
            </a:r>
            <a:r>
              <a:rPr sz="1100">
                <a:solidFill>
                  <a:srgbClr val="1A1A2E"/>
                </a:solidFill>
                <a:latin typeface="Calibri"/>
              </a:rPr>
              <a:t> SHI/RUL engine models thermal decay and barometric drift to calculate Sensor Health Index and dispatch preventive maintenance before failure.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024128"/>
            <a:ext cx="6583680" cy="411480"/>
          </a:xfrm>
          <a:prstGeom prst="rect">
            <a:avLst/>
          </a:prstGeom>
          <a:solidFill>
            <a:srgbClr val="F0F4F8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1042415"/>
            <a:ext cx="64922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Metshield AI End-to-End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463040"/>
            <a:ext cx="6583680" cy="4206240"/>
          </a:xfrm>
          <a:prstGeom prst="rect">
            <a:avLst/>
          </a:prstGeom>
          <a:solidFill>
            <a:srgbClr val="E8EEF4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77840" y="150876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50992" y="154533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Raw Telemetry Ingest
(1350+ AWS Packets / 2.5s)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50876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154533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Raw Telemetry Ingest
(1350+ AWS Packets / 2.5s)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198424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98424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210312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50992" y="213969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WMO Pub8 Physical Bounds
Validation 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210312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68512" y="213969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WMO Pub8 Physical Bounds
Validation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57860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57860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269748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50992" y="273405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Dual ML Ensemble
Isolation Forest + Autoencoder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269748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68512" y="273405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Dual ML Ensemble
Isolation Forest + Autoencoder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317296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17296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329184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50992" y="332841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SHAP XAI Attribution
Physical Reasoning Engine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329184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68512" y="332841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SHAP XAI Attribution
Physical Reasoning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376732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76732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388620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50992" y="392277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Spatial Kriging Imputation
/ CAP Alert Dispatch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88620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68512" y="392277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Spatial Kriging Imputation
/ CAP Alert Dispatch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59" y="436168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361688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276"/>
                </a:solidFill>
                <a:latin typeface="Calibri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448056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50992" y="451713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NWP Gateway Output
(100% Clean Data)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4480560"/>
            <a:ext cx="2651760" cy="475488"/>
          </a:xfrm>
          <a:prstGeom prst="roundRect">
            <a:avLst>
              <a:gd name="adj" fmla="val 6000"/>
            </a:avLst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68512" y="4517136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NWP Gateway Output
(100% Clean Data)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" y="5532120"/>
            <a:ext cx="2236622" cy="914400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6032" y="5559552"/>
            <a:ext cx="2090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Storm vs.
Fault Discriminator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" y="5989320"/>
            <a:ext cx="20903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&lt;5ms AI inference
WMO Pub 8 rules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529230" y="5532120"/>
            <a:ext cx="2236622" cy="914400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02382" y="5559552"/>
            <a:ext cx="2090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Spatial
Kriging Mesh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2382" y="5989320"/>
            <a:ext cx="20903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Haversine + IDW
Zero NWP Gaps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75580" y="5532120"/>
            <a:ext cx="2236622" cy="914400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48732" y="5559552"/>
            <a:ext cx="2090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SHAP XAI
Reasoning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48732" y="5989320"/>
            <a:ext cx="20903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97.8% F1
Explainable AI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21931" y="5532120"/>
            <a:ext cx="2236622" cy="914400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95083" y="5559552"/>
            <a:ext cx="2090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CAP v1.2
Alerts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95083" y="5989320"/>
            <a:ext cx="20903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ITU-T X.1303
False-alarm proof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68281" y="5532120"/>
            <a:ext cx="2236622" cy="914400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41433" y="5559552"/>
            <a:ext cx="2090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SHI/RUL
Maintenance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1433" y="5989320"/>
            <a:ext cx="209031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Thermal decay model
Field dispatch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4320" y="6510528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INDIA HACKATHON 2025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731752" y="6510528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etshield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3152"/>
            <a:ext cx="1371600" cy="1043609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73152"/>
            <a:ext cx="2194560" cy="1081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73152"/>
            <a:ext cx="8531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49808"/>
            <a:ext cx="7863840" cy="4572000"/>
          </a:xfrm>
          <a:prstGeom prst="rect">
            <a:avLst/>
          </a:prstGeom>
          <a:solidFill>
            <a:srgbClr val="F0F4F8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2880" y="795528"/>
            <a:ext cx="1874519" cy="64008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1" y="813815"/>
            <a:ext cx="1819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Zone 1
Users &amp;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39" y="795528"/>
            <a:ext cx="1874519" cy="64008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76272" y="813815"/>
            <a:ext cx="1819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Zone 2
Frontend
(Dashboard Layer)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795528"/>
            <a:ext cx="1874519" cy="64008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42232" y="813815"/>
            <a:ext cx="1819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Zone 3
Backend
(Processing Layer)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59" y="795528"/>
            <a:ext cx="1874519" cy="64008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08192" y="813815"/>
            <a:ext cx="18196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Zone 4
AI &amp; Intelligence
(Brain Layer)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" y="1554480"/>
            <a:ext cx="17465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" y="1591056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IMD/WMO
Data Streams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" y="2441448"/>
            <a:ext cx="17465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" y="2478024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INSAT-3D DRT
Telemetry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" y="3328415"/>
            <a:ext cx="17465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5176" y="3364991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1350+ AWS
Stations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" y="4215384"/>
            <a:ext cx="17465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" y="4251960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2E"/>
                </a:solidFill>
                <a:latin typeface="Calibri"/>
              </a:rPr>
              <a:t>Mobile
Nodes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76272" y="1554480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94560" y="1591056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Metshield
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76272" y="2441448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0" y="2478024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Station Network
GIS 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76272" y="3328415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3364991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Alert
Monitor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76272" y="4215384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94560" y="4251960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Technician
Drawer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42232" y="1554480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60520" y="1591056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Telemetry Ingest
(2.5s cycle)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42232" y="2441448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2478024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WMO Bounds
Validator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42232" y="3328415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60520" y="3364991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Anomaly
Ensemble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42232" y="4215384"/>
            <a:ext cx="1819656" cy="731520"/>
          </a:xfrm>
          <a:prstGeom prst="roundRect">
            <a:avLst>
              <a:gd name="adj" fmla="val 6000"/>
            </a:avLst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4251960"/>
            <a:ext cx="1783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Spatial
Imputer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08192" y="1554480"/>
            <a:ext cx="1819656" cy="2743200"/>
          </a:xfrm>
          <a:prstGeom prst="roundRect">
            <a:avLst>
              <a:gd name="adj" fmla="val 6000"/>
            </a:avLst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44768" y="1618488"/>
            <a:ext cx="174650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AI/ML Engine</a:t>
            </a:r>
          </a:p>
          <a:p>
            <a:pPr algn="ctr"/>
            <a:endParaRPr sz="1000" b="1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Isolation Forest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LSTM Autoencoder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Physical Rules</a:t>
            </a:r>
          </a:p>
          <a:p>
            <a:pPr algn="ctr"/>
            <a:endParaRPr sz="900" b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SHAP XAI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Kriging Interp.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SHI/RUL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" y="5321808"/>
            <a:ext cx="7863840" cy="502920"/>
          </a:xfrm>
          <a:prstGeom prst="rect">
            <a:avLst/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2880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Python/scikit-learn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5860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TensorFlow/Keras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39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NumPy/SciPy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1819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Kriging (pykrige)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7780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Next.js 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59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63740" y="5376672"/>
            <a:ext cx="8915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INSAT-3D DRT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749808"/>
            <a:ext cx="3913632" cy="475488"/>
          </a:xfrm>
          <a:prstGeom prst="roundRect">
            <a:avLst>
              <a:gd name="adj" fmla="val 6000"/>
            </a:avLst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83879" y="758952"/>
            <a:ext cx="38221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Implementation Process</a:t>
            </a:r>
          </a:p>
        </p:txBody>
      </p:sp>
      <p:sp>
        <p:nvSpPr>
          <p:cNvPr id="52" name="Oval 51"/>
          <p:cNvSpPr/>
          <p:nvPr/>
        </p:nvSpPr>
        <p:spPr>
          <a:xfrm>
            <a:off x="8183879" y="1325880"/>
            <a:ext cx="384048" cy="384048"/>
          </a:xfrm>
          <a:prstGeom prst="ellipse">
            <a:avLst/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02168" y="13624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8512" y="128016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Field Calibration
&amp; Onboarding</a:t>
            </a:r>
          </a:p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AWS stations registered with GPS
coordinates, hardware specs &amp; baselines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7" y="1719072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6EAB"/>
                </a:solidFill>
                <a:latin typeface="Calibri"/>
              </a:rPr>
              <a:t>|</a:t>
            </a:r>
          </a:p>
        </p:txBody>
      </p:sp>
      <p:sp>
        <p:nvSpPr>
          <p:cNvPr id="56" name="Oval 55"/>
          <p:cNvSpPr/>
          <p:nvPr/>
        </p:nvSpPr>
        <p:spPr>
          <a:xfrm>
            <a:off x="8183879" y="2075688"/>
            <a:ext cx="384048" cy="384048"/>
          </a:xfrm>
          <a:prstGeom prst="ellipse">
            <a:avLst/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02168" y="211226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12" y="2029968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Telemetry Ingest</a:t>
            </a:r>
          </a:p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2.5s INSAT-3D DRT uplink, WMO
Pub 8 range validation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327" y="2468880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6EAB"/>
                </a:solidFill>
                <a:latin typeface="Calibri"/>
              </a:rPr>
              <a:t>|</a:t>
            </a:r>
          </a:p>
        </p:txBody>
      </p:sp>
      <p:sp>
        <p:nvSpPr>
          <p:cNvPr id="60" name="Oval 59"/>
          <p:cNvSpPr/>
          <p:nvPr/>
        </p:nvSpPr>
        <p:spPr>
          <a:xfrm>
            <a:off x="8183879" y="2825496"/>
            <a:ext cx="384048" cy="384048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02168" y="286207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68512" y="2779776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AI Ensemble
Inference</a:t>
            </a:r>
          </a:p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Isolation Forest + Autoencoder +
Physical rules in &lt;4.2ms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327" y="3218688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6EAB"/>
                </a:solidFill>
                <a:latin typeface="Calibri"/>
              </a:rPr>
              <a:t>|</a:t>
            </a:r>
          </a:p>
        </p:txBody>
      </p:sp>
      <p:sp>
        <p:nvSpPr>
          <p:cNvPr id="64" name="Oval 63"/>
          <p:cNvSpPr/>
          <p:nvPr/>
        </p:nvSpPr>
        <p:spPr>
          <a:xfrm>
            <a:off x="8183879" y="3575304"/>
            <a:ext cx="384048" cy="384048"/>
          </a:xfrm>
          <a:prstGeom prst="ellipse">
            <a:avLst/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02168" y="36118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68512" y="3529584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XAI Attribution</a:t>
            </a:r>
          </a:p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SHAP feature weights &amp; physical
reasoning for every decision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9327" y="3968496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6EAB"/>
                </a:solidFill>
                <a:latin typeface="Calibri"/>
              </a:rPr>
              <a:t>|</a:t>
            </a:r>
          </a:p>
        </p:txBody>
      </p:sp>
      <p:sp>
        <p:nvSpPr>
          <p:cNvPr id="68" name="Oval 67"/>
          <p:cNvSpPr/>
          <p:nvPr/>
        </p:nvSpPr>
        <p:spPr>
          <a:xfrm>
            <a:off x="8183879" y="4325112"/>
            <a:ext cx="384048" cy="384048"/>
          </a:xfrm>
          <a:prstGeom prst="ellipse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02168" y="43616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68512" y="4279392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Action Dispatch</a:t>
            </a:r>
          </a:p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Quarantine / Impute / CAP alert
/ RUL maintenance dispatch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7" y="4718303"/>
            <a:ext cx="91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6EAB"/>
                </a:solidFill>
                <a:latin typeface="Calibri"/>
              </a:rPr>
              <a:t>|</a:t>
            </a:r>
          </a:p>
        </p:txBody>
      </p:sp>
      <p:sp>
        <p:nvSpPr>
          <p:cNvPr id="72" name="Oval 71"/>
          <p:cNvSpPr/>
          <p:nvPr/>
        </p:nvSpPr>
        <p:spPr>
          <a:xfrm>
            <a:off x="8183879" y="5074920"/>
            <a:ext cx="384048" cy="384048"/>
          </a:xfrm>
          <a:prstGeom prst="ellipse">
            <a:avLst/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02168" y="511149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68512" y="502920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NWP Assimilation</a:t>
            </a:r>
          </a:p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100% clean verified data passed
to national weather models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4320" y="6510528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INDIA HACKATHON 2025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731752" y="6510528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etshield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3152"/>
            <a:ext cx="1371600" cy="1043609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73152"/>
            <a:ext cx="2194560" cy="1081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73152"/>
            <a:ext cx="8531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2E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49808"/>
            <a:ext cx="3874008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133856"/>
            <a:ext cx="3874008" cy="1828800"/>
          </a:xfrm>
          <a:prstGeom prst="rect">
            <a:avLst/>
          </a:prstGeom>
          <a:solidFill>
            <a:srgbClr val="F0F4F8"/>
          </a:solidFill>
          <a:ln w="63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" y="1207008"/>
            <a:ext cx="36545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Proven ensemble AI (Isolation Forest + LSTM Autoencoder) deployed on identical telemetry architectures.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WMO Pub 8 physical bounds integrated as hard rules — no ML black-box on critical bounds.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INSAT-3D DRT satellite uplink ensures station connectivity across remote regions.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3464" y="749808"/>
            <a:ext cx="3874008" cy="384048"/>
          </a:xfrm>
          <a:prstGeom prst="rect">
            <a:avLst/>
          </a:prstGeom>
          <a:solidFill>
            <a:srgbClr val="216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84904" y="75895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3464" y="1133856"/>
            <a:ext cx="3874008" cy="1828800"/>
          </a:xfrm>
          <a:prstGeom prst="rect">
            <a:avLst/>
          </a:prstGeom>
          <a:solidFill>
            <a:srgbClr val="F0F4F8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3192" y="1207008"/>
            <a:ext cx="36545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Web dashboard + mobile PWA for field technicians with offline-first capability.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Sensor Health Index (SHI) drives scheduled maintenance, reducing emergency callouts.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Modular API architecture: new AWS networks onboarded in &lt;2 days with metadata ingestion.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9768" y="749808"/>
            <a:ext cx="3874008" cy="384048"/>
          </a:xfrm>
          <a:prstGeom prst="rect">
            <a:avLst/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41208" y="75895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Practical Implementation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9768" y="1133856"/>
            <a:ext cx="3874008" cy="1828800"/>
          </a:xfrm>
          <a:prstGeom prst="rect">
            <a:avLst/>
          </a:prstGeom>
          <a:solidFill>
            <a:srgbClr val="F0F4F8"/>
          </a:solidFill>
          <a:ln w="6350">
            <a:solidFill>
              <a:srgbClr val="F27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9496" y="1207008"/>
            <a:ext cx="36545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Ready for pilot with IMD's existing 1,350 AWS network within 3 months.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Multilingual dashboard (English/Hindi) for field technician accessibility.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2E"/>
                </a:solidFill>
                <a:latin typeface="Calibri"/>
              </a:rPr>
              <a:t>• Fully open-source stack — zero vendor lock-in for government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3035808"/>
            <a:ext cx="5486400" cy="3346703"/>
          </a:xfrm>
          <a:prstGeom prst="rect">
            <a:avLst/>
          </a:prstGeom>
          <a:solidFill>
            <a:srgbClr val="F0F4F8"/>
          </a:solidFill>
          <a:ln w="6350">
            <a:solidFill>
              <a:srgbClr val="E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46888" y="3163824"/>
            <a:ext cx="347472" cy="347472"/>
          </a:xfrm>
          <a:prstGeom prst="ellipse">
            <a:avLst/>
          </a:prstGeom>
          <a:solidFill>
            <a:srgbClr val="E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5176" y="319125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36391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Connectivity: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Patchy INSAT coverage in high-altitude &amp; remote AWS sites.</a:t>
            </a:r>
          </a:p>
        </p:txBody>
      </p:sp>
      <p:sp>
        <p:nvSpPr>
          <p:cNvPr id="22" name="Oval 21"/>
          <p:cNvSpPr/>
          <p:nvPr/>
        </p:nvSpPr>
        <p:spPr>
          <a:xfrm>
            <a:off x="246888" y="3785615"/>
            <a:ext cx="347472" cy="347472"/>
          </a:xfrm>
          <a:prstGeom prst="ellipse">
            <a:avLst/>
          </a:prstGeom>
          <a:solidFill>
            <a:srgbClr val="E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5176" y="381304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58183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Calibration Drift: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Barometric sensors drift ±3 hPa over 6 months reducing accuracy.</a:t>
            </a:r>
          </a:p>
        </p:txBody>
      </p:sp>
      <p:sp>
        <p:nvSpPr>
          <p:cNvPr id="25" name="Oval 24"/>
          <p:cNvSpPr/>
          <p:nvPr/>
        </p:nvSpPr>
        <p:spPr>
          <a:xfrm>
            <a:off x="246888" y="4407408"/>
            <a:ext cx="347472" cy="347472"/>
          </a:xfrm>
          <a:prstGeom prst="ellipse">
            <a:avLst/>
          </a:prstGeom>
          <a:solidFill>
            <a:srgbClr val="E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" y="443484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79976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Data Privacy: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Sensitive telemetry requires encryption for multi-agency sharing.</a:t>
            </a:r>
          </a:p>
        </p:txBody>
      </p:sp>
      <p:sp>
        <p:nvSpPr>
          <p:cNvPr id="28" name="Oval 27"/>
          <p:cNvSpPr/>
          <p:nvPr/>
        </p:nvSpPr>
        <p:spPr>
          <a:xfrm>
            <a:off x="246888" y="5029200"/>
            <a:ext cx="347472" cy="347472"/>
          </a:xfrm>
          <a:prstGeom prst="ellipse">
            <a:avLst/>
          </a:prstGeom>
          <a:solidFill>
            <a:srgbClr val="E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5176" y="50566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0176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Hardware Failures: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Solar panels and transceivers degrade in extreme monsoon conditions.</a:t>
            </a:r>
          </a:p>
        </p:txBody>
      </p:sp>
      <p:sp>
        <p:nvSpPr>
          <p:cNvPr id="31" name="Oval 30"/>
          <p:cNvSpPr/>
          <p:nvPr/>
        </p:nvSpPr>
        <p:spPr>
          <a:xfrm>
            <a:off x="246888" y="5650992"/>
            <a:ext cx="347472" cy="347472"/>
          </a:xfrm>
          <a:prstGeom prst="ellipse">
            <a:avLst/>
          </a:prstGeom>
          <a:solidFill>
            <a:srgbClr val="E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5176" y="567842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23560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Integration: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Heterogeneous AWS hardware (SUTRON, VAISALA, etc.) across IMD network.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3035808"/>
            <a:ext cx="5422392" cy="3346703"/>
          </a:xfrm>
          <a:prstGeom prst="rect">
            <a:avLst/>
          </a:prstGeom>
          <a:solidFill>
            <a:srgbClr val="F0F4F8"/>
          </a:solidFill>
          <a:ln w="6350">
            <a:solidFill>
              <a:srgbClr val="2DA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39128" y="3163824"/>
            <a:ext cx="347472" cy="347472"/>
          </a:xfrm>
          <a:prstGeom prst="ellipse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57416" y="319125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182112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Store-and-forward buffering ensures zero data loss during satellite outages.</a:t>
            </a:r>
          </a:p>
        </p:txBody>
      </p:sp>
      <p:sp>
        <p:nvSpPr>
          <p:cNvPr id="38" name="Oval 37"/>
          <p:cNvSpPr/>
          <p:nvPr/>
        </p:nvSpPr>
        <p:spPr>
          <a:xfrm>
            <a:off x="6739128" y="3785615"/>
            <a:ext cx="347472" cy="347472"/>
          </a:xfrm>
          <a:prstGeom prst="ellipse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57416" y="381304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3803903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Auto-calibration via Kriging spatial consensus corrects drift continuously.</a:t>
            </a:r>
          </a:p>
        </p:txBody>
      </p:sp>
      <p:sp>
        <p:nvSpPr>
          <p:cNvPr id="41" name="Oval 40"/>
          <p:cNvSpPr/>
          <p:nvPr/>
        </p:nvSpPr>
        <p:spPr>
          <a:xfrm>
            <a:off x="6739128" y="4407408"/>
            <a:ext cx="347472" cy="347472"/>
          </a:xfrm>
          <a:prstGeom prst="ellipse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57416" y="443484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425696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AES-256 encryption + role-based access control for all telemetry streams.</a:t>
            </a:r>
          </a:p>
        </p:txBody>
      </p:sp>
      <p:sp>
        <p:nvSpPr>
          <p:cNvPr id="44" name="Oval 43"/>
          <p:cNvSpPr/>
          <p:nvPr/>
        </p:nvSpPr>
        <p:spPr>
          <a:xfrm>
            <a:off x="6739128" y="5029200"/>
            <a:ext cx="347472" cy="347472"/>
          </a:xfrm>
          <a:prstGeom prst="ellipse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57416" y="50566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047488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SHI/RUL predictive alerts dispatch field teams before hardware failure.</a:t>
            </a:r>
          </a:p>
        </p:txBody>
      </p:sp>
      <p:sp>
        <p:nvSpPr>
          <p:cNvPr id="47" name="Oval 46"/>
          <p:cNvSpPr/>
          <p:nvPr/>
        </p:nvSpPr>
        <p:spPr>
          <a:xfrm>
            <a:off x="6739128" y="5650992"/>
            <a:ext cx="347472" cy="347472"/>
          </a:xfrm>
          <a:prstGeom prst="ellipse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57416" y="567842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5669280"/>
            <a:ext cx="4736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Pluggable adapter layer — new hardware types added via JSON config schema.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305409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3232"/>
                </a:solidFill>
                <a:latin typeface="Calibri"/>
              </a:rPr>
              <a:t>Potential Challenges &amp; Risks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3054096"/>
            <a:ext cx="4416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A844"/>
                </a:solidFill>
                <a:latin typeface="Calibri"/>
              </a:rPr>
              <a:t>Strategies For Overcoming Challenges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INDIA HACKATHON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31752" y="6510528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etshield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3152"/>
            <a:ext cx="1371600" cy="1043609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73152"/>
            <a:ext cx="2194560" cy="1081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73152"/>
            <a:ext cx="8531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841248"/>
            <a:ext cx="34747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" y="841248"/>
            <a:ext cx="3474720" cy="402336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" y="877824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IMD Forecasters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1316736"/>
            <a:ext cx="3255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Receive 100% clean, validated AWS data for NWP model assimilation — eliminating faulty sensor corruption from national weather forecasts.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2944368"/>
            <a:ext cx="34747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F27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" y="2944368"/>
            <a:ext cx="3474720" cy="402336"/>
          </a:xfrm>
          <a:prstGeom prst="rect">
            <a:avLst/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" y="2980944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Field Technicians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" y="3419856"/>
            <a:ext cx="3255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Smart SHI/RUL dashboards dispatch preventive maintenance before sensor failure, reducing emergency callouts by estimated 60%.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841248"/>
            <a:ext cx="34747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0D9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94760" y="841248"/>
            <a:ext cx="3474720" cy="402336"/>
          </a:xfrm>
          <a:prstGeom prst="rect">
            <a:avLst/>
          </a:prstGeom>
          <a:solidFill>
            <a:srgbClr val="0D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04488" y="877824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National Disaster
Management (NDMA)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8" y="1316736"/>
            <a:ext cx="3255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CAP v1.2 early warning alerts broadcast genuine storm confirmations within seconds, with false alarms eliminated by AI quarantine.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2944368"/>
            <a:ext cx="347472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2DA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94760" y="2944368"/>
            <a:ext cx="3474720" cy="402336"/>
          </a:xfrm>
          <a:prstGeom prst="rect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04488" y="2980944"/>
            <a:ext cx="32552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Government / IMD HQ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3419856"/>
            <a:ext cx="32552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Live 24x7 network health KPIs across 1,350 stations with audit trail and XAI explainability for regulatory compliance.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804672"/>
            <a:ext cx="4279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Benefits of the Solution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749808"/>
            <a:ext cx="4389120" cy="475488"/>
          </a:xfrm>
          <a:prstGeom prst="roundRect">
            <a:avLst>
              <a:gd name="adj" fmla="val 6000"/>
            </a:avLst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80960" y="1316736"/>
            <a:ext cx="4389120" cy="1463040"/>
          </a:xfrm>
          <a:prstGeom prst="rect">
            <a:avLst/>
          </a:prstGeom>
          <a:solidFill>
            <a:srgbClr val="F0F4F8"/>
          </a:solidFill>
          <a:ln w="635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80960" y="1316736"/>
            <a:ext cx="164592" cy="14630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36992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  <a:latin typeface="Calibri"/>
              </a:rPr>
              <a:t>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1773936"/>
            <a:ext cx="4005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Builds trust in national weather forecasts with transparent XAI reasoning. Empowers field workers with explainable AI decisions.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871215"/>
            <a:ext cx="4389120" cy="1463040"/>
          </a:xfrm>
          <a:prstGeom prst="rect">
            <a:avLst/>
          </a:prstGeom>
          <a:solidFill>
            <a:srgbClr val="F0F4F8"/>
          </a:solidFill>
          <a:ln w="6350">
            <a:solidFill>
              <a:srgbClr val="F27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680960" y="2871215"/>
            <a:ext cx="164592" cy="1463040"/>
          </a:xfrm>
          <a:prstGeom prst="rect">
            <a:avLst/>
          </a:prstGeom>
          <a:solidFill>
            <a:srgbClr val="F27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36992" y="2944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7B21"/>
                </a:solidFill>
                <a:latin typeface="Calibri"/>
              </a:rPr>
              <a:t>Economic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328415"/>
            <a:ext cx="4005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Reduces false weather alerts that cost airlines, agriculture and disaster response billions annually. Prevents costly false evacuations.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425696"/>
            <a:ext cx="4389120" cy="1463040"/>
          </a:xfrm>
          <a:prstGeom prst="rect">
            <a:avLst/>
          </a:prstGeom>
          <a:solidFill>
            <a:srgbClr val="F0F4F8"/>
          </a:solidFill>
          <a:ln w="6350">
            <a:solidFill>
              <a:srgbClr val="2DA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80960" y="4425696"/>
            <a:ext cx="164592" cy="1463040"/>
          </a:xfrm>
          <a:prstGeom prst="rect">
            <a:avLst/>
          </a:prstGeom>
          <a:solidFill>
            <a:srgbClr val="2DA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36992" y="4498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A844"/>
                </a:solidFill>
                <a:latin typeface="Calibri"/>
              </a:rPr>
              <a:t>Environmental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4882896"/>
            <a:ext cx="4005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Ensures early storm warnings protect lives and infrastructure. Higher quality NWP data improves climate research accuracy.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925312"/>
            <a:ext cx="12188952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594360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1A1A2E"/>
                </a:solidFill>
                <a:latin typeface="Calibri"/>
              </a:rPr>
              <a:t>"India's first AI-powered Weather Station QMS — 97.8% F1, &lt;4.2ms latency, 100% NWP data integrity, real alerts, real impact, real weather."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510528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INDIA HACKATHON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31752" y="6510528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etshield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3152"/>
            <a:ext cx="1371600" cy="1043609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73152"/>
            <a:ext cx="2194560" cy="10812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73152"/>
            <a:ext cx="8531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49808"/>
            <a:ext cx="11914632" cy="5623560"/>
          </a:xfrm>
          <a:prstGeom prst="rect">
            <a:avLst/>
          </a:prstGeom>
          <a:solidFill>
            <a:srgbClr val="F0F4F8"/>
          </a:solidFill>
          <a:ln w="6350">
            <a:solidFill>
              <a:srgbClr val="216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11640312" cy="5468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>
                <a:solidFill>
                  <a:srgbClr val="1A5276"/>
                </a:solidFill>
                <a:latin typeface="Calibri"/>
              </a:rPr>
              <a:t>Field &amp; Applied Research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1A1A2E"/>
                </a:solidFill>
                <a:latin typeface="Calibri"/>
              </a:rPr>
              <a:t>•  Surveyed IMD engineers and field technicians to identify data quality failure modes in AWS telemetry across remote and coastal stations.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1A1A2E"/>
                </a:solidFill>
                <a:latin typeface="Calibri"/>
              </a:rPr>
              <a:t>•  Analysed NOAA/WMO Pub 8 anomaly-injection datasets and 50,000 synthetic AWS packets to benchmark Isolation Forest + Autoencoder ensemble performance.</a:t>
            </a:r>
          </a:p>
          <a:p>
            <a:pPr>
              <a:spcBef>
                <a:spcPts val="300"/>
              </a:spcBef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A5276"/>
                </a:solidFill>
                <a:latin typeface="Calibri"/>
              </a:rPr>
              <a:t>Academic &amp; Government Sources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1A1A2E"/>
                </a:solidFill>
                <a:latin typeface="Calibri"/>
              </a:rPr>
              <a:t>•  WMO No.8 Guide to Meteorological Instruments and Observing Practices (2023):  https://library.wmo.int/records/item/41650-guide-to-meteorological-instruments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1A1A2E"/>
                </a:solidFill>
                <a:latin typeface="Calibri"/>
              </a:rPr>
              <a:t>•  IMD Automatic Weather Station Network – Technical Manual (2024):  https://www.imd.gov.in/pages/aws_agromet_main.php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1A1A2E"/>
                </a:solidFill>
                <a:latin typeface="Calibri"/>
              </a:rPr>
              <a:t>•  Scikit-learn Isolation Forest Documentation:  https://scikit-learn.org/stable/modules/generated/sklearn.ensemble.IsolationForest.html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1A1A2E"/>
                </a:solidFill>
                <a:latin typeface="Calibri"/>
              </a:rPr>
              <a:t>•  OSGEO PyKrige Ordinary Kriging Interpolation:  https://pykrige.readthedocs.io/</a:t>
            </a:r>
          </a:p>
          <a:p>
            <a:pPr>
              <a:spcBef>
                <a:spcPts val="300"/>
              </a:spcBef>
            </a:pPr>
            <a:r>
              <a:rPr sz="1050" b="0">
                <a:solidFill>
                  <a:srgbClr val="1A1A2E"/>
                </a:solidFill>
                <a:latin typeface="Calibri"/>
              </a:rPr>
              <a:t>•  ITU-T X.1303 Common Alerting Protocol (CAP) v1.2:  https://www.itu.int/rec/T-REC-X.1303</a:t>
            </a:r>
          </a:p>
          <a:p>
            <a:pPr>
              <a:spcBef>
                <a:spcPts val="300"/>
              </a:spcBef>
            </a:pPr>
            <a:endParaRPr sz="1050" b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A5276"/>
                </a:solidFill>
                <a:latin typeface="Calibri"/>
              </a:rPr>
              <a:t>•  Live Project Demo:  https://aws2026-nu.vercel.app/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A1A2E"/>
                </a:solidFill>
                <a:latin typeface="Calibri"/>
              </a:rPr>
              <a:t>•  Team: Aerotech (Metshield AI)  |  SIH26073  |  AWS-QMS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091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INDIA HACKATHON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31752" y="6510528"/>
            <a:ext cx="320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1303</Words>
  <Application>Microsoft Office PowerPoint</Application>
  <PresentationFormat>Custom</PresentationFormat>
  <Paragraphs>189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Kumar Mehta</cp:lastModifiedBy>
  <cp:revision>2</cp:revision>
  <dcterms:created xsi:type="dcterms:W3CDTF">2013-01-27T09:14:16Z</dcterms:created>
  <dcterms:modified xsi:type="dcterms:W3CDTF">2026-09-13T11:31:29Z</dcterms:modified>
  <cp:category/>
</cp:coreProperties>
</file>